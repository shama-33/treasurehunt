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84" r:id="rId3"/>
    <p:sldId id="405" r:id="rId4"/>
    <p:sldId id="406" r:id="rId5"/>
    <p:sldId id="407" r:id="rId6"/>
    <p:sldId id="408" r:id="rId7"/>
    <p:sldId id="409" r:id="rId8"/>
    <p:sldId id="417" r:id="rId9"/>
    <p:sldId id="410" r:id="rId10"/>
    <p:sldId id="411" r:id="rId11"/>
    <p:sldId id="412" r:id="rId12"/>
    <p:sldId id="413" r:id="rId13"/>
    <p:sldId id="414" r:id="rId14"/>
    <p:sldId id="415" r:id="rId15"/>
    <p:sldId id="416" r:id="rId16"/>
    <p:sldId id="418" r:id="rId17"/>
    <p:sldId id="419" r:id="rId18"/>
    <p:sldId id="423" r:id="rId19"/>
    <p:sldId id="420" r:id="rId20"/>
    <p:sldId id="42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3" roundtripDataSignature="AMtx7mg9CgjXLld8ptoL8a35yts1isVH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2F34"/>
    <a:srgbClr val="E05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33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3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3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13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13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BA34663-458C-A971-6E79-33E7A272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7E9EC96-F136-82E6-B21E-D13948557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4EC1DDC-D920-4EA6-B417-03957CD0B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0206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F71E718-C7DA-146E-73F3-53E96765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411B915-C80B-C55A-CC35-9EBE136EC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64F5E18-BC4F-BDDE-7524-1DF92120F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0696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79B701E-7885-A589-25C6-C0C02C62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B4AD092-B79E-987D-9AB4-C6D0D8965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156FC0E-899C-F22A-A09B-014C7830C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840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6651EFD-9DE6-77FA-1476-5E61994CA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C0AEF26-C10B-DF41-2C52-8A1A8C4442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E63FC8D-12FE-9786-7818-C666F8B308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9448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841359B-4EFA-2B32-5645-D8D43421D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875766E-8000-0E84-723B-1EF775D069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2D7836C-5D87-D11F-8A14-807A5261A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298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B7B0851-35DA-680A-24F2-428AAAAC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0A78E7B-F000-B9D5-67E4-EBF99FEEA2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7A99CBC-2D6E-CD03-3284-64EB929BA4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9334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EC33C72-B21D-81CC-5A87-5CDB3C66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4C10659-A2A8-503E-FF30-6E823AD94A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124744F-A81A-D935-2F1E-8084FC9D4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780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9827770-AB49-6A15-E562-39534FB7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CC96BB5-59FC-75FB-0E9B-D9B5A174E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AFD6562-2C33-20EC-2B5E-4B6DA149BA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5539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8313B28-F870-7807-46A7-8DA709CD7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2EF711B-F26F-9082-CF38-55C0C45102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C70CE7D-576C-A141-CD76-493514380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2390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4D3823F-FDEC-5AC7-F213-F560C979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E38B96B-59E9-3B01-27E0-42D020839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5CB3582-9230-FBFF-76CA-9CA255290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565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5E9CBDC-92B6-1B95-5E64-1CF3B333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96B31DA-D14F-ED8D-59F0-9DC68AE0C8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070729D-347B-B40E-1CF5-FDBCBB282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6525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007F434-1A86-33C5-C80D-E3CFB4B11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2DF7E9F-5B92-A827-BAC4-9291635BC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29ADA6C-C6FB-1831-3BBC-B2212C1BFB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9616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F6AE6A8-597B-7A6E-D290-C7A29F8B5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B1EB68B-8411-EE3F-46C7-45D6DF036F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E01B171-7CEF-820F-33AF-7F15F7884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1199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EE87B5F-2770-4E27-EA9E-F23BDA59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14D057B-3B3D-69AE-F37E-185992EA7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7C096A2-0C82-292F-0617-AD805E100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9889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A47423C-7F08-9BD6-E034-47E69B620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B0BEA92-76ED-A4C7-5353-DDF76F45F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05ABD23-A7A4-49DD-B42B-7218676BE5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0015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61B5DF0-717E-FFA5-8742-C8793836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0B11082-40FA-3D49-2E9A-461AAA64C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3DF4E0F-366E-6BE7-B602-62665649ED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8568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494F625-C897-B94D-C4B0-1B984B86C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DD5A133-5C57-FA7F-55A0-F5C509ADC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131537A-1A41-0044-4EA6-8EAE5D611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793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89FCAE4-EDEC-9020-E674-F164F409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BA826B2-BE94-B2F2-4ACE-FF3D588F6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CF4762B-8A97-1EA1-79FE-4AD2EC0449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84239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E8A606D-447B-38E5-4D3C-CB342D594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01E3894-2DC8-D88F-AF78-CB0DB74E0F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BDC47C6-0947-1D22-03CF-B643BA4D6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4681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B3EDE1B-1FDD-4BDD-B9C3-A02EBB405C0C}" type="datetime1">
              <a:rPr lang="en-US" smtClean="0"/>
              <a:t>2/25/2026</a:t>
            </a:fld>
            <a:endParaRPr/>
          </a:p>
        </p:txBody>
      </p:sp>
      <p:sp>
        <p:nvSpPr>
          <p:cNvPr id="19" name="Google Shape;19;p1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7D52AB9-3D6A-4BEA-889C-8A23CC1E41F9}" type="datetime1">
              <a:rPr lang="en-US" smtClean="0"/>
              <a:t>2/25/2026</a:t>
            </a:fld>
            <a:endParaRPr/>
          </a:p>
        </p:txBody>
      </p:sp>
      <p:sp>
        <p:nvSpPr>
          <p:cNvPr id="25" name="Google Shape;25;p1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89FC86B-2F8E-4CDA-997A-594D50FC4134}" type="datetime1">
              <a:rPr lang="en-US" smtClean="0"/>
              <a:t>2/25/2026</a:t>
            </a:fld>
            <a:endParaRPr/>
          </a:p>
        </p:txBody>
      </p:sp>
      <p:sp>
        <p:nvSpPr>
          <p:cNvPr id="31" name="Google Shape;31;p1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C3EB018-2631-4F41-8F39-991DBD607FA1}" type="datetime1">
              <a:rPr lang="en-US" smtClean="0"/>
              <a:t>2/25/2026</a:t>
            </a:fld>
            <a:endParaRPr/>
          </a:p>
        </p:txBody>
      </p:sp>
      <p:sp>
        <p:nvSpPr>
          <p:cNvPr id="38" name="Google Shape;38;p1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6A1455C-EEF5-419A-91EC-822287CA72B2}" type="datetime1">
              <a:rPr lang="en-US" smtClean="0"/>
              <a:t>2/25/2026</a:t>
            </a:fld>
            <a:endParaRPr/>
          </a:p>
        </p:txBody>
      </p:sp>
      <p:sp>
        <p:nvSpPr>
          <p:cNvPr id="47" name="Google Shape;47;p1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A658B42-2AED-440F-8642-795880ABF694}" type="datetime1">
              <a:rPr lang="en-US" smtClean="0"/>
              <a:t>2/25/2026</a:t>
            </a:fld>
            <a:endParaRPr/>
          </a:p>
        </p:txBody>
      </p:sp>
      <p:sp>
        <p:nvSpPr>
          <p:cNvPr id="52" name="Google Shape;52;p1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D8923A3-B32C-44A1-BF8E-58A6B5CB4AD2}" type="datetime1">
              <a:rPr lang="en-US" smtClean="0"/>
              <a:t>2/25/2026</a:t>
            </a:fld>
            <a:endParaRPr/>
          </a:p>
        </p:txBody>
      </p:sp>
      <p:sp>
        <p:nvSpPr>
          <p:cNvPr id="56" name="Google Shape;56;p1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3256B8A-000B-4FE1-BB90-6B3511F801CD}" type="datetime1">
              <a:rPr lang="en-US" smtClean="0"/>
              <a:t>2/25/2026</a:t>
            </a:fld>
            <a:endParaRPr/>
          </a:p>
        </p:txBody>
      </p:sp>
      <p:sp>
        <p:nvSpPr>
          <p:cNvPr id="63" name="Google Shape;63;p1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EA89E1C-8919-45CE-BD22-B0AA023CDF86}" type="datetime1">
              <a:rPr lang="en-US" smtClean="0"/>
              <a:t>2/25/2026</a:t>
            </a:fld>
            <a:endParaRPr/>
          </a:p>
        </p:txBody>
      </p:sp>
      <p:sp>
        <p:nvSpPr>
          <p:cNvPr id="70" name="Google Shape;70;p1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CA00D8-EB07-447F-890F-17154B078BD3}" type="datetime1">
              <a:rPr lang="en-US" smtClean="0"/>
              <a:t>2/25/2026</a:t>
            </a:fld>
            <a:endParaRPr/>
          </a:p>
        </p:txBody>
      </p:sp>
      <p:sp>
        <p:nvSpPr>
          <p:cNvPr id="76" name="Google Shape;76;p1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976DA6A-7D94-4B99-9FF7-7E1DE6473E3A}" type="datetime1">
              <a:rPr lang="en-US" smtClean="0"/>
              <a:t>2/25/2026</a:t>
            </a:fld>
            <a:endParaRPr/>
          </a:p>
        </p:txBody>
      </p:sp>
      <p:sp>
        <p:nvSpPr>
          <p:cNvPr id="82" name="Google Shape;82;p1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2CC22BD-8A3F-403B-A71F-FAC8D9FB4454}" type="datetime1">
              <a:rPr lang="en-US" smtClean="0"/>
              <a:t>2/25/2026</a:t>
            </a:fld>
            <a:endParaRPr/>
          </a:p>
        </p:txBody>
      </p:sp>
      <p:sp>
        <p:nvSpPr>
          <p:cNvPr id="13" name="Google Shape;13;p1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0" y="1413190"/>
            <a:ext cx="12192000" cy="587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lang="en-GB" sz="2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2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4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48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Treasure Hunt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0" y="275400"/>
            <a:ext cx="12192000" cy="556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None/>
            </a:pPr>
            <a:r>
              <a:rPr lang="en-GB" sz="2400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4208 :</a:t>
            </a:r>
            <a:r>
              <a:rPr lang="en-GB" sz="24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Computer Graphics Laboratory</a:t>
            </a:r>
            <a:endParaRPr sz="2400"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019666-D329-02CB-AFEC-30BDB55F3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840280"/>
              </p:ext>
            </p:extLst>
          </p:nvPr>
        </p:nvGraphicFramePr>
        <p:xfrm>
          <a:off x="157314" y="2754943"/>
          <a:ext cx="1189703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8517">
                  <a:extLst>
                    <a:ext uri="{9D8B030D-6E8A-4147-A177-3AD203B41FA5}">
                      <a16:colId xmlns:a16="http://schemas.microsoft.com/office/drawing/2014/main" val="2472392483"/>
                    </a:ext>
                  </a:extLst>
                </a:gridCol>
                <a:gridCol w="5948517">
                  <a:extLst>
                    <a:ext uri="{9D8B030D-6E8A-4147-A177-3AD203B41FA5}">
                      <a16:colId xmlns:a16="http://schemas.microsoft.com/office/drawing/2014/main" val="2413942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329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A4C9743-1218-6501-BFDC-2B8377DCC159}"/>
              </a:ext>
            </a:extLst>
          </p:cNvPr>
          <p:cNvSpPr txBox="1"/>
          <p:nvPr/>
        </p:nvSpPr>
        <p:spPr>
          <a:xfrm>
            <a:off x="1338558" y="2940363"/>
            <a:ext cx="450180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To</a:t>
            </a: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Sk. Md. </a:t>
            </a:r>
            <a:r>
              <a:rPr lang="en-US" sz="24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Masudul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Ahsan</a:t>
            </a: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KUET</a:t>
            </a: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4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Badiuzzaman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Suvo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KUET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B4AA36-0C23-3EA8-638D-E0D6D360E903}"/>
              </a:ext>
            </a:extLst>
          </p:cNvPr>
          <p:cNvSpPr txBox="1"/>
          <p:nvPr/>
        </p:nvSpPr>
        <p:spPr>
          <a:xfrm>
            <a:off x="7690197" y="2940363"/>
            <a:ext cx="450180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Farhatun Shama</a:t>
            </a: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Roll: 1907033</a:t>
            </a: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A1</a:t>
            </a:r>
          </a:p>
          <a:p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Year: 4</a:t>
            </a:r>
            <a:r>
              <a:rPr lang="en-US" sz="2400" baseline="30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b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Semester: 2nd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03961B-B4A0-8DBF-07E3-EF94AD997A23}"/>
              </a:ext>
            </a:extLst>
          </p:cNvPr>
          <p:cNvCxnSpPr/>
          <p:nvPr/>
        </p:nvCxnSpPr>
        <p:spPr>
          <a:xfrm>
            <a:off x="6233651" y="2754943"/>
            <a:ext cx="0" cy="299883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E366D4F-8680-8EDD-ECC9-75F1AA779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D8D234A3-2AD6-EC8D-BEC2-52020E116E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Outline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7CBAE22-035D-078B-8D60-C9EF91B55E8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98A3547-E406-41B1-8658-6B9B6F348BDC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859A8F2-D7C6-F4C8-3031-DCE9FBAB2E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C234DEB4-4116-F9FD-73C3-10DE9C7B1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51026"/>
            <a:ext cx="10649712" cy="365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Objectives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Introduction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Description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Game States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Keyboard Interaction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Conclusion</a:t>
            </a: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Video Demonstration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735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CB55D22-F047-751C-E3BD-7DA098B5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8FE8F42-14D8-9177-D045-9FAEA55DA9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Objectives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975588E-4C1A-5B57-7F65-DC3800B5698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74562DF-F294-59BB-F0F9-EE77A8E22B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14A06769-9BC0-E338-BD8D-726F2D80C6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949860"/>
            <a:ext cx="10649712" cy="295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implement object selection using ray-sphere intersection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To demonstrate transformations in different coordinate systems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To design and implement user-interactive gameplay mechanics</a:t>
            </a:r>
          </a:p>
          <a:p>
            <a:pPr marL="228600" lvl="0" indent="-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To handle lighting, textures, and animations effectively in 3D environments.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749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242992C-5900-D9D0-93C6-772E516D2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5DA73CE-B5E1-C057-113E-96FB9BA203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Introduction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8DA4DD1-26AC-70D1-FB69-BECC9C1B9EA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5338EC5-E44D-319C-D0EB-2CD21C5EC4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E3EAD72B-D32B-EF33-E1A6-873550366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261602"/>
            <a:ext cx="10649712" cy="509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3D Treasure Hunt is a thrilling 3D adventure game with an interactive environment.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Players progress by solving puzzles and finding hidden keys.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Multiple rooms featuring unique challenges and environments.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Incorporates interactive object selection and manipulation.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Includes dynamic object animations like moving cars and floating ghosts.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Utilizes advanced lighting and textures for realistic visual effects.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688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E611733-A3CD-8E8B-9301-9A33D925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A775947-705E-EC6D-343D-D0E56FE116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42E27CD-3094-8949-D8A8-2A106A9C1DD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B13FCF1-88ED-9AC8-2DDA-EC4DB8C9F9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4C773D-D683-EBC6-57E7-A3CCE56AA0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90" b="4301"/>
          <a:stretch/>
        </p:blipFill>
        <p:spPr>
          <a:xfrm>
            <a:off x="1346884" y="1563629"/>
            <a:ext cx="8367252" cy="4330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63DCF-E8C2-3696-F940-1F91067BB099}"/>
              </a:ext>
            </a:extLst>
          </p:cNvPr>
          <p:cNvSpPr txBox="1"/>
          <p:nvPr/>
        </p:nvSpPr>
        <p:spPr>
          <a:xfrm>
            <a:off x="838200" y="1136624"/>
            <a:ext cx="4692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1: Contains selectable objects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E15E4D-63DE-0C88-1C93-115BCD4DF046}"/>
              </a:ext>
            </a:extLst>
          </p:cNvPr>
          <p:cNvSpPr txBox="1"/>
          <p:nvPr/>
        </p:nvSpPr>
        <p:spPr>
          <a:xfrm>
            <a:off x="1346884" y="6048573"/>
            <a:ext cx="836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Figure 1: initial room</a:t>
            </a:r>
          </a:p>
        </p:txBody>
      </p:sp>
    </p:spTree>
    <p:extLst>
      <p:ext uri="{BB962C8B-B14F-4D97-AF65-F5344CB8AC3E}">
        <p14:creationId xmlns:p14="http://schemas.microsoft.com/office/powerpoint/2010/main" val="3622939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D8F17D1-008B-80A4-9FE0-3B00BF93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D4D61B7-1542-37A0-CE6A-8808D1199C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 (Cont’d)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9CB1258-A5E6-B3BA-4416-F670E03538C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BC2B302-1A9B-EB7C-9E2A-DA247D85D3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95339C-1D28-53E8-DAAA-1490AD8F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7" r="1467"/>
          <a:stretch/>
        </p:blipFill>
        <p:spPr>
          <a:xfrm>
            <a:off x="1346884" y="1563629"/>
            <a:ext cx="8367252" cy="4330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28401C-F25F-0D5C-E465-1BC81BD9F914}"/>
              </a:ext>
            </a:extLst>
          </p:cNvPr>
          <p:cNvSpPr txBox="1"/>
          <p:nvPr/>
        </p:nvSpPr>
        <p:spPr>
          <a:xfrm>
            <a:off x="838200" y="1136624"/>
            <a:ext cx="4671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1: from a different view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934B60-6CB4-7102-CFF0-A59A89E7E1FD}"/>
              </a:ext>
            </a:extLst>
          </p:cNvPr>
          <p:cNvSpPr txBox="1"/>
          <p:nvPr/>
        </p:nvSpPr>
        <p:spPr>
          <a:xfrm>
            <a:off x="1346884" y="6048573"/>
            <a:ext cx="836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Figure 2: initial room from above</a:t>
            </a:r>
          </a:p>
        </p:txBody>
      </p:sp>
    </p:spTree>
    <p:extLst>
      <p:ext uri="{BB962C8B-B14F-4D97-AF65-F5344CB8AC3E}">
        <p14:creationId xmlns:p14="http://schemas.microsoft.com/office/powerpoint/2010/main" val="2011850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E631AC7-1AA1-4049-C0FC-E132D52E6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4CC0ECB-00FD-20FD-4A22-8A3088F5F8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 (Cont’d)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ABC62EF-BB6B-0A00-8E37-017A3D500C2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14DD388-DA2B-0878-AA8F-76C85B3131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E7D7EFCA-CA3D-4106-2AC4-193B4C010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342233"/>
            <a:ext cx="10515600" cy="304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Textured objects using cube, cylinder, cone and sphere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moving ghost and a vase using curve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moving car with rotating wheels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Static and blinking lights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7587AE-CBFD-9AC7-D15B-21B0355902F1}"/>
              </a:ext>
            </a:extLst>
          </p:cNvPr>
          <p:cNvSpPr txBox="1"/>
          <p:nvPr/>
        </p:nvSpPr>
        <p:spPr>
          <a:xfrm>
            <a:off x="838200" y="1452864"/>
            <a:ext cx="2241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1: Objects</a:t>
            </a:r>
          </a:p>
        </p:txBody>
      </p:sp>
    </p:spTree>
    <p:extLst>
      <p:ext uri="{BB962C8B-B14F-4D97-AF65-F5344CB8AC3E}">
        <p14:creationId xmlns:p14="http://schemas.microsoft.com/office/powerpoint/2010/main" val="2689641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85E0870-494A-8ECF-F330-4DE357BF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F658526-C5BC-91E4-AFCC-2F1E992E0C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 (Cont’d)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540C805-D2F3-D256-B1EB-536E299C667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0DC381E-A730-88DC-6EA1-2E1F00FB42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B674BEB1-CCCF-571E-13DE-E5BBD6C9E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038088"/>
            <a:ext cx="10515600" cy="421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Click Detection:</a:t>
            </a:r>
            <a:r>
              <a:rPr lang="en-US" dirty="0"/>
              <a:t> Mouse input captures screen coordinates.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Ray Casting:</a:t>
            </a:r>
            <a:r>
              <a:rPr lang="en-US" dirty="0"/>
              <a:t> Converts screen coordinates to world coordinates using the view and projection matrices.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Ray-Sphere Intersection:</a:t>
            </a:r>
            <a:r>
              <a:rPr lang="en-US" dirty="0"/>
              <a:t> Checks for collision between the ray and the bounding sphere of each object.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B790C-B501-FA1E-0159-3094A94BC902}"/>
              </a:ext>
            </a:extLst>
          </p:cNvPr>
          <p:cNvSpPr txBox="1"/>
          <p:nvPr/>
        </p:nvSpPr>
        <p:spPr>
          <a:xfrm>
            <a:off x="838200" y="1452864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1: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1569736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2F24569-9602-110B-F3DA-3C324B5F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B2F580A-23B3-B85F-11AD-5956D1224B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 (Cont’d)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5C052FF-A3F0-0B35-79B5-E13B776128A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C09DBF8-C80E-3436-4491-3BFE4A65CA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E98435F0-C24F-7AFE-5D71-DC3936386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405163"/>
            <a:ext cx="10515600" cy="290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Object Highlighting:</a:t>
            </a:r>
            <a:r>
              <a:rPr lang="en-US" dirty="0"/>
              <a:t> Selected object lifts upward as visual feedback.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Key Detection:</a:t>
            </a:r>
            <a:r>
              <a:rPr lang="en-US" dirty="0"/>
              <a:t> Objects with keys trigger a state change.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Room Transition:</a:t>
            </a:r>
            <a:r>
              <a:rPr lang="en-US" dirty="0"/>
              <a:t> Key discovery initiates transition to the next room after a delay.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91CA0-5E0E-5D38-17AA-7EAE20EAC208}"/>
              </a:ext>
            </a:extLst>
          </p:cNvPr>
          <p:cNvSpPr txBox="1"/>
          <p:nvPr/>
        </p:nvSpPr>
        <p:spPr>
          <a:xfrm>
            <a:off x="838200" y="1452864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1: functionalities (Cont’d)</a:t>
            </a:r>
          </a:p>
        </p:txBody>
      </p:sp>
    </p:spTree>
    <p:extLst>
      <p:ext uri="{BB962C8B-B14F-4D97-AF65-F5344CB8AC3E}">
        <p14:creationId xmlns:p14="http://schemas.microsoft.com/office/powerpoint/2010/main" val="853321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1DBDBA5-2B94-3189-CEDE-95C8D957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213381D-F69C-CD44-6186-2975430837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 (Cont’d)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B5C4FA5-F53A-703F-075D-67F09D60D5D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260A96-48C2-304F-517B-CAADA17CDB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6C1FAB60-26BF-BD5F-5B88-1D27034A0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117013"/>
            <a:ext cx="10515600" cy="340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Car Animation:</a:t>
            </a:r>
            <a:r>
              <a:rPr lang="en-US" dirty="0"/>
              <a:t> Moves back and forth within a specified range with rotating wheels.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Ghost Animation:</a:t>
            </a:r>
            <a:r>
              <a:rPr lang="en-US" dirty="0"/>
              <a:t> Floats vertically in a sinusoidal motion along with rotation.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Light Interaction:</a:t>
            </a:r>
            <a:r>
              <a:rPr lang="en-US" dirty="0"/>
              <a:t> Lights alternate flickering for a realistic, spooky effect.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Door Opening: </a:t>
            </a:r>
            <a:r>
              <a:rPr lang="en-US" dirty="0"/>
              <a:t>User can open the door by pressing ‘O’.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853C4-A8CD-64FA-B214-64B588E7EFAA}"/>
              </a:ext>
            </a:extLst>
          </p:cNvPr>
          <p:cNvSpPr txBox="1"/>
          <p:nvPr/>
        </p:nvSpPr>
        <p:spPr>
          <a:xfrm>
            <a:off x="838200" y="1189764"/>
            <a:ext cx="2877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1: Animations </a:t>
            </a:r>
          </a:p>
        </p:txBody>
      </p:sp>
    </p:spTree>
    <p:extLst>
      <p:ext uri="{BB962C8B-B14F-4D97-AF65-F5344CB8AC3E}">
        <p14:creationId xmlns:p14="http://schemas.microsoft.com/office/powerpoint/2010/main" val="4202203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9540681-CA19-9A6B-634F-4C28A8C1D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BD728F1-A84E-118A-0D18-3C208BBAC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 (Cont’d)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AF06D3D-AF55-CCB3-574A-1DF26F0521C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D65B37A-4DA7-1BF0-622F-58CCBF0E10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4213CE-B9EB-7F7A-FE11-674C2C8DD8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5" r="395"/>
          <a:stretch/>
        </p:blipFill>
        <p:spPr>
          <a:xfrm>
            <a:off x="1346884" y="1573461"/>
            <a:ext cx="8367252" cy="4330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7BC14C-4769-1AE5-C860-0E3EAD75BB0D}"/>
              </a:ext>
            </a:extLst>
          </p:cNvPr>
          <p:cNvSpPr txBox="1"/>
          <p:nvPr/>
        </p:nvSpPr>
        <p:spPr>
          <a:xfrm>
            <a:off x="838200" y="1136624"/>
            <a:ext cx="3419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2: Hit Static Targets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E012D9-0F0D-443B-BCBD-F3BC45AE368A}"/>
              </a:ext>
            </a:extLst>
          </p:cNvPr>
          <p:cNvSpPr txBox="1"/>
          <p:nvPr/>
        </p:nvSpPr>
        <p:spPr>
          <a:xfrm>
            <a:off x="1346884" y="6048573"/>
            <a:ext cx="836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Figure 3: Shooting room (Level 1)</a:t>
            </a:r>
          </a:p>
        </p:txBody>
      </p:sp>
    </p:spTree>
    <p:extLst>
      <p:ext uri="{BB962C8B-B14F-4D97-AF65-F5344CB8AC3E}">
        <p14:creationId xmlns:p14="http://schemas.microsoft.com/office/powerpoint/2010/main" val="1245511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424BDD0-3E84-F336-A1B1-5D684059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8804487-FEEE-7903-D062-0C594643E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 (Cont’d)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A184AA1-F1C0-5E52-0D34-4963200AF52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69A4D28-6BF9-4222-9993-480138AB1B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CAF5A755-B2C6-5A07-EE6F-1D90D8643A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998551"/>
            <a:ext cx="10515600" cy="340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 dirty="0"/>
              <a:t>Arrow Object </a:t>
            </a:r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Positioned initially near the player's view.</a:t>
            </a:r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Moves straight toward the targets upon shooting.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 dirty="0"/>
              <a:t>Static Cylinder Targets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Positioned at varying distances along the z-axis.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160E6-75FF-9AC7-0E9B-3EC123345D5E}"/>
              </a:ext>
            </a:extLst>
          </p:cNvPr>
          <p:cNvSpPr txBox="1"/>
          <p:nvPr/>
        </p:nvSpPr>
        <p:spPr>
          <a:xfrm>
            <a:off x="838200" y="1189764"/>
            <a:ext cx="2310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2: Objects </a:t>
            </a:r>
          </a:p>
        </p:txBody>
      </p:sp>
    </p:spTree>
    <p:extLst>
      <p:ext uri="{BB962C8B-B14F-4D97-AF65-F5344CB8AC3E}">
        <p14:creationId xmlns:p14="http://schemas.microsoft.com/office/powerpoint/2010/main" val="3834384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0E85799-FB72-4FC7-054E-A0C0C96F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EBA0F12-5B99-7ED6-8A8C-D0ED8525A0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 (Cont’d)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3E287A2-8057-A1DC-E251-797F899D589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515263A-CC58-9382-6200-F31A544AB4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38D9017D-0C6D-9A02-F4C8-9F5687461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998551"/>
            <a:ext cx="10515600" cy="340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Mouse click initiates arrow shooting.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Direction determined based on the mouse click position (ray casting).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Checks for arrow hitting the target using bounding sphere intersection.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Player earns 10 points for each target hit.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Missed shots reset the arrow's position for retry.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Game is over in case of timeout.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E3921-F11E-C327-E15B-5BD487FC664B}"/>
              </a:ext>
            </a:extLst>
          </p:cNvPr>
          <p:cNvSpPr txBox="1"/>
          <p:nvPr/>
        </p:nvSpPr>
        <p:spPr>
          <a:xfrm>
            <a:off x="838200" y="1189764"/>
            <a:ext cx="2986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2: Functionality </a:t>
            </a:r>
          </a:p>
        </p:txBody>
      </p:sp>
    </p:spTree>
    <p:extLst>
      <p:ext uri="{BB962C8B-B14F-4D97-AF65-F5344CB8AC3E}">
        <p14:creationId xmlns:p14="http://schemas.microsoft.com/office/powerpoint/2010/main" val="3846253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772F837-C569-9F4C-4BFD-79836149E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320A17C-17F5-D63D-CAFC-C75BEAEF78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 (Cont’d)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94F899D-41E1-A10B-3B10-80B88ED08CF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CC52778-5C9B-6700-ED49-99946D9927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D4D7A4-9519-A0B0-400E-7B9467768E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7" b="1277"/>
          <a:stretch/>
        </p:blipFill>
        <p:spPr>
          <a:xfrm>
            <a:off x="1346884" y="1563629"/>
            <a:ext cx="8367252" cy="4330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31D9AC-11A3-9DF4-1309-116976383629}"/>
              </a:ext>
            </a:extLst>
          </p:cNvPr>
          <p:cNvSpPr txBox="1"/>
          <p:nvPr/>
        </p:nvSpPr>
        <p:spPr>
          <a:xfrm>
            <a:off x="838200" y="1136624"/>
            <a:ext cx="3809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2: Hit Dynamic Targets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3661A2-EC10-8814-0DBD-430CB1834B92}"/>
              </a:ext>
            </a:extLst>
          </p:cNvPr>
          <p:cNvSpPr txBox="1"/>
          <p:nvPr/>
        </p:nvSpPr>
        <p:spPr>
          <a:xfrm>
            <a:off x="1346884" y="6048573"/>
            <a:ext cx="836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Figure 4: Shooting room (Level 2)</a:t>
            </a:r>
          </a:p>
        </p:txBody>
      </p:sp>
    </p:spTree>
    <p:extLst>
      <p:ext uri="{BB962C8B-B14F-4D97-AF65-F5344CB8AC3E}">
        <p14:creationId xmlns:p14="http://schemas.microsoft.com/office/powerpoint/2010/main" val="2491489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CC6F064-52F8-D807-B794-6910A43FE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C0B0A22-D836-12EF-12E5-557B940C1C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Description (Cont’d)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2B6C452-72F6-1989-7F0D-59C75EFA82A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277E425-F71B-A848-07BE-9032212AB2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898B8727-FA4A-E946-4100-3322701F2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998551"/>
            <a:ext cx="10515600" cy="340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 dirty="0"/>
              <a:t>Arrow Object </a:t>
            </a:r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Same as previous level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 dirty="0"/>
              <a:t>Static Cylinder Targets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Positioned at varying distances along the z-axis.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Move horizontally in a sinusoidal pattern along the x-axis.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Requires precise aim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5FC1E-15DA-DA40-FE51-633C5B111163}"/>
              </a:ext>
            </a:extLst>
          </p:cNvPr>
          <p:cNvSpPr txBox="1"/>
          <p:nvPr/>
        </p:nvSpPr>
        <p:spPr>
          <a:xfrm>
            <a:off x="838200" y="1189764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2: Objects (dynamic) </a:t>
            </a:r>
          </a:p>
        </p:txBody>
      </p:sp>
    </p:spTree>
    <p:extLst>
      <p:ext uri="{BB962C8B-B14F-4D97-AF65-F5344CB8AC3E}">
        <p14:creationId xmlns:p14="http://schemas.microsoft.com/office/powerpoint/2010/main" val="2552165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A0FCAE1-C259-B79A-B10C-77038857F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651738A-DBBE-37F3-B7DC-82E5EB16E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Game States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39AC497-FEAA-D97B-8311-86A3469E5EB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8860E3A-805A-1A2B-6049-7746E78965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92DD5FAB-28D7-FCE8-4515-EBE2197D5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54422"/>
            <a:ext cx="10515600" cy="340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 dirty="0"/>
              <a:t>1.Win State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dirty="0"/>
              <a:t>All targets hit successfully.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dirty="0"/>
              <a:t>Render animated gold treasure (sphere).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 dirty="0"/>
              <a:t>Lose State</a:t>
            </a:r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Time runs out or all targets missed.</a:t>
            </a:r>
            <a:endParaRPr lang="en-US" u="sng" dirty="0"/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Render an object to demonstrate .</a:t>
            </a:r>
          </a:p>
        </p:txBody>
      </p:sp>
    </p:spTree>
    <p:extLst>
      <p:ext uri="{BB962C8B-B14F-4D97-AF65-F5344CB8AC3E}">
        <p14:creationId xmlns:p14="http://schemas.microsoft.com/office/powerpoint/2010/main" val="1520142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54F213B-0B0E-FF9D-55F9-33862141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F126319-FA77-BBA5-0D65-AD18622034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Game States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DFEF275-A2C5-07AA-B66B-3E5EE2B7197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02C216C-07BC-4DC2-3FB6-5F176AF738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6DABB7-9F29-45BC-6C6D-93DA7FE6D7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612" t="-17894" r="7612" b="22767"/>
          <a:stretch/>
        </p:blipFill>
        <p:spPr>
          <a:xfrm>
            <a:off x="223520" y="857478"/>
            <a:ext cx="5872480" cy="4525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F6DB87-5786-8234-D2C5-8424181CBB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57" r="16857"/>
          <a:stretch/>
        </p:blipFill>
        <p:spPr>
          <a:xfrm>
            <a:off x="6685936" y="1868128"/>
            <a:ext cx="5094584" cy="35150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FBCD3B-784F-3773-0D61-0C264C89E040}"/>
              </a:ext>
            </a:extLst>
          </p:cNvPr>
          <p:cNvSpPr txBox="1"/>
          <p:nvPr/>
        </p:nvSpPr>
        <p:spPr>
          <a:xfrm>
            <a:off x="2486857" y="5700511"/>
            <a:ext cx="2032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Figure 5: Lose State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2FCB8-EF65-68F3-F92C-9FAB804DA612}"/>
              </a:ext>
            </a:extLst>
          </p:cNvPr>
          <p:cNvSpPr txBox="1"/>
          <p:nvPr/>
        </p:nvSpPr>
        <p:spPr>
          <a:xfrm>
            <a:off x="7873501" y="5700511"/>
            <a:ext cx="1941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Figure 6: Win State</a:t>
            </a:r>
          </a:p>
        </p:txBody>
      </p:sp>
    </p:spTree>
    <p:extLst>
      <p:ext uri="{BB962C8B-B14F-4D97-AF65-F5344CB8AC3E}">
        <p14:creationId xmlns:p14="http://schemas.microsoft.com/office/powerpoint/2010/main" val="4229460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D750541-DF08-239F-A5A0-F0BA2302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9193C18-018B-DF70-E3A5-8727DC9A6B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Keyboard Interaction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6E69CF1-E8D3-F858-A8B8-17A6D97CD2C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6BBDBA0-F4D2-3550-D471-46E7044E42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4B8E4DEA-A249-B065-477C-DEF8360B0E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7419" y="1661652"/>
            <a:ext cx="10704871" cy="376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sz="2800" dirty="0"/>
              <a:t>W, A, S, D: Move the camera forward, left, backward, and right, respectively.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sz="2800" dirty="0"/>
              <a:t>Q, E: Adjust the camera's height.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sz="2800" dirty="0"/>
              <a:t>R: Reset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sz="2800" dirty="0"/>
              <a:t>H, F, T, G: Move the eye/camera position along X, Z, and Y axes 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sz="2800" dirty="0"/>
              <a:t>1 to 7: Lighting Control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dirty="0"/>
              <a:t>B,V: Blending – Fragment and vertex shader respectively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sz="2800" dirty="0"/>
              <a:t>O: Open door</a:t>
            </a:r>
          </a:p>
        </p:txBody>
      </p:sp>
    </p:spTree>
    <p:extLst>
      <p:ext uri="{BB962C8B-B14F-4D97-AF65-F5344CB8AC3E}">
        <p14:creationId xmlns:p14="http://schemas.microsoft.com/office/powerpoint/2010/main" val="396287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F172A80-C34B-7974-33AD-74FD79C09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EA256A3-A72C-68D6-454F-A7374B28A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Conclusion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BD4B67E-E9E9-00E7-B56D-70481DCE159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0AA80C5-632A-0633-171E-D58D4DF949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F335D504-6C3A-B07D-C81C-67C68E2D6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6690" y="2018216"/>
            <a:ext cx="10515600" cy="340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indent="-4572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dirty="0"/>
              <a:t>Developed an engaging and interactive 3D game.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dirty="0"/>
              <a:t>Incorporated object selection, coordinate transformations, and dynamic animations.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dirty="0"/>
              <a:t>Designed rooms with unique challenges like static and moving targets.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dirty="0"/>
              <a:t>Achieved a balance between gameplay mechanics and visual aesthetics.</a:t>
            </a:r>
          </a:p>
        </p:txBody>
      </p:sp>
    </p:spTree>
    <p:extLst>
      <p:ext uri="{BB962C8B-B14F-4D97-AF65-F5344CB8AC3E}">
        <p14:creationId xmlns:p14="http://schemas.microsoft.com/office/powerpoint/2010/main" val="1532228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D46A0B0-1A30-0E48-D042-7FFBA4A3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3E645B8-58F9-BC6B-00C8-B6402F9CF4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1051" y="2813357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chemeClr val="accent1">
                    <a:lumMod val="50000"/>
                  </a:schemeClr>
                </a:solidFill>
              </a:rPr>
              <a:t>Thank You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0F7199C-7C95-7621-B8B2-268E6884F36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124221F-0870-43E9-9BDF-AE9C266908F3}" type="datetime1">
              <a:rPr lang="en-US" smtClean="0"/>
              <a:t>2/25/2026</a:t>
            </a:fld>
            <a:endParaRPr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20F9733-91A2-1CBB-D601-C8FC52CE21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500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774</Words>
  <Application>Microsoft Office PowerPoint</Application>
  <PresentationFormat>Widescreen</PresentationFormat>
  <Paragraphs>154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   3D Treasure Hunt</vt:lpstr>
      <vt:lpstr>Outline</vt:lpstr>
      <vt:lpstr>Objectives</vt:lpstr>
      <vt:lpstr>Introduction</vt:lpstr>
      <vt:lpstr>Description</vt:lpstr>
      <vt:lpstr>Description (Cont’d)</vt:lpstr>
      <vt:lpstr>Description (Cont’d)</vt:lpstr>
      <vt:lpstr>Description (Cont’d)</vt:lpstr>
      <vt:lpstr>Description (Cont’d)</vt:lpstr>
      <vt:lpstr>Description (Cont’d)</vt:lpstr>
      <vt:lpstr>Description (Cont’d)</vt:lpstr>
      <vt:lpstr>Description (Cont’d)</vt:lpstr>
      <vt:lpstr>Description (Cont’d)</vt:lpstr>
      <vt:lpstr>Description (Cont’d)</vt:lpstr>
      <vt:lpstr>Description (Cont’d)</vt:lpstr>
      <vt:lpstr>Game States</vt:lpstr>
      <vt:lpstr>Game States</vt:lpstr>
      <vt:lpstr>Keyboard Interaction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L1: Introduction</dc:title>
  <dc:creator>Microsoft Office User</dc:creator>
  <cp:lastModifiedBy>farhatun shama</cp:lastModifiedBy>
  <cp:revision>45</cp:revision>
  <dcterms:created xsi:type="dcterms:W3CDTF">2022-05-28T04:31:37Z</dcterms:created>
  <dcterms:modified xsi:type="dcterms:W3CDTF">2026-02-25T10:14:23Z</dcterms:modified>
</cp:coreProperties>
</file>